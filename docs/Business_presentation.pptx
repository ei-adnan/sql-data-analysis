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itter"/>
      <p:regular r:id="rId201314"/>
    </p:embeddedFont>
    <p:embeddedFont>
      <p:font typeface="Bitter Bold"/>
      <p:regular r:id="rId201315"/>
    </p:embeddedFont>
    <p:embeddedFont>
      <p:font typeface="Jost"/>
      <p:regular r:id="rId201316"/>
    </p:embeddedFont>
    <p:embeddedFont>
      <p:font typeface="Jost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71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71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182" y="1346200"/>
            <a:ext cx="6730832" cy="4165600"/>
          </a:xfrm>
          <a:prstGeom prst="rect">
            <a:avLst/>
          </a:prstGeom>
          <a:noFill/>
          <a:ln w="12700">
            <a:solidFill>
              <a:srgbClr val="4A36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3882" y="1358900"/>
            <a:ext cx="6705432" cy="41402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04872" y="2422545"/>
            <a:ext cx="5943451" cy="122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Customer &amp;</a:t>
            </a:r>
            <a:endParaRPr lang="en-US" sz="44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Product Insights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104872" y="3832523"/>
            <a:ext cx="1961307" cy="19050"/>
          </a:xfrm>
          <a:prstGeom prst="roundRect">
            <a:avLst>
              <a:gd name="adj" fmla="val 49999"/>
            </a:avLst>
          </a:prstGeom>
          <a:solidFill>
            <a:srgbClr val="B79CF5"/>
          </a:solidFill>
          <a:ln/>
        </p:spPr>
      </p:sp>
      <p:sp>
        <p:nvSpPr>
          <p:cNvPr id="6" name="Text 4"/>
          <p:cNvSpPr/>
          <p:nvPr/>
        </p:nvSpPr>
        <p:spPr>
          <a:xfrm>
            <a:off x="1104872" y="4218285"/>
            <a:ext cx="5943451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Where the Next Growth Comes From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098014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€29.35M from bikes, built on one-time buyers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1869480"/>
            <a:ext cx="5333867" cy="1683941"/>
          </a:xfrm>
          <a:prstGeom prst="rect">
            <a:avLst/>
          </a:prstGeom>
          <a:solidFill>
            <a:srgbClr val="4A3670"/>
          </a:solidFill>
          <a:ln/>
        </p:spPr>
      </p:sp>
      <p:sp>
        <p:nvSpPr>
          <p:cNvPr id="4" name="Text 2"/>
          <p:cNvSpPr/>
          <p:nvPr/>
        </p:nvSpPr>
        <p:spPr>
          <a:xfrm>
            <a:off x="914377" y="2234605"/>
            <a:ext cx="4724282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€29.35M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914377" y="2987080"/>
            <a:ext cx="502907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Revenue from 27,657 orders and 18,482 customers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48244" y="1869480"/>
            <a:ext cx="5333867" cy="1683941"/>
          </a:xfrm>
          <a:prstGeom prst="rect">
            <a:avLst/>
          </a:prstGeom>
          <a:noFill/>
          <a:ln w="6350">
            <a:solidFill>
              <a:srgbClr val="4A36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59386" y="2240955"/>
            <a:ext cx="4711582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96.5%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6559386" y="2993430"/>
            <a:ext cx="502272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Of revenue delivered by bikes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9585" y="3858220"/>
            <a:ext cx="5333867" cy="1932781"/>
          </a:xfrm>
          <a:prstGeom prst="rect">
            <a:avLst/>
          </a:prstGeom>
          <a:noFill/>
          <a:ln w="6350">
            <a:solidFill>
              <a:srgbClr val="4A36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0727" y="4229695"/>
            <a:ext cx="4711582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63%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920727" y="4982170"/>
            <a:ext cx="471158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Of customers bought once; repeat buyers drive 77% of revenue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48244" y="3858220"/>
            <a:ext cx="5333867" cy="1932781"/>
          </a:xfrm>
          <a:prstGeom prst="rect">
            <a:avLst/>
          </a:prstGeom>
          <a:noFill/>
          <a:ln w="6350">
            <a:solidFill>
              <a:srgbClr val="4A36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59386" y="4229695"/>
            <a:ext cx="4711582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8.9%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6559386" y="4982170"/>
            <a:ext cx="502272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Of customers are VIPs, generating 36.7% of revenue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7895" y="6466086"/>
            <a:ext cx="443109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Customer &amp; Product Insights: Where the Next Growth Comes From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946135" y="6466086"/>
            <a:ext cx="24556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830322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2013 grew 2.8x, and the business changed shape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652588"/>
            <a:ext cx="6756231" cy="350331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670509" y="1423988"/>
            <a:ext cx="3911601" cy="3960515"/>
          </a:xfrm>
          <a:prstGeom prst="rect">
            <a:avLst/>
          </a:prstGeom>
          <a:noFill/>
          <a:ln w="6350">
            <a:solidFill>
              <a:srgbClr val="4A367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905453" y="1714500"/>
            <a:ext cx="3441713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4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+551%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905453" y="2395538"/>
            <a:ext cx="367665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Orders in 2013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905453" y="2793603"/>
            <a:ext cx="3441713" cy="19050"/>
          </a:xfrm>
          <a:prstGeom prst="roundRect">
            <a:avLst>
              <a:gd name="adj" fmla="val 49999"/>
            </a:avLst>
          </a:prstGeom>
          <a:solidFill>
            <a:srgbClr val="4A3670"/>
          </a:solidFill>
          <a:ln/>
        </p:spPr>
      </p:sp>
      <p:sp>
        <p:nvSpPr>
          <p:cNvPr id="8" name="Text 5"/>
          <p:cNvSpPr/>
          <p:nvPr/>
        </p:nvSpPr>
        <p:spPr>
          <a:xfrm>
            <a:off x="7905453" y="2961878"/>
            <a:ext cx="3441713" cy="1100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Accessories and Clothing launched at scale, about €1.0M in 2013.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Average revenue per order fell from about €3,200 (2011) to about €770 (2013).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09585" y="5587702"/>
            <a:ext cx="10972526" cy="19050"/>
          </a:xfrm>
          <a:prstGeom prst="roundRect">
            <a:avLst>
              <a:gd name="adj" fmla="val 49999"/>
            </a:avLst>
          </a:prstGeom>
          <a:solidFill>
            <a:srgbClr val="4A3670"/>
          </a:solidFill>
          <a:ln/>
        </p:spPr>
      </p:sp>
      <p:sp>
        <p:nvSpPr>
          <p:cNvPr id="10" name="Text 7"/>
          <p:cNvSpPr/>
          <p:nvPr/>
        </p:nvSpPr>
        <p:spPr>
          <a:xfrm>
            <a:off x="609585" y="5809952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Revenue rose from €5.84M (2012) to €16.34M (2013).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77895" y="6466086"/>
            <a:ext cx="443109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Customer &amp; Product Insights: Where the Next Growth Comes From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942960" y="6466086"/>
            <a:ext cx="2487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2736849"/>
            <a:ext cx="10566136" cy="1397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Customers</a:t>
            </a:r>
            <a:endParaRPr lang="en-US" sz="11000" dirty="0"/>
          </a:p>
        </p:txBody>
      </p:sp>
      <p:sp>
        <p:nvSpPr>
          <p:cNvPr id="3" name="Shape 1"/>
          <p:cNvSpPr/>
          <p:nvPr/>
        </p:nvSpPr>
        <p:spPr>
          <a:xfrm>
            <a:off x="812780" y="4194175"/>
            <a:ext cx="10566036" cy="19050"/>
          </a:xfrm>
          <a:prstGeom prst="roundRect">
            <a:avLst>
              <a:gd name="adj" fmla="val 49999"/>
            </a:avLst>
          </a:prstGeom>
          <a:solidFill>
            <a:srgbClr val="B79CF5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554817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Most customers are new, and most buy once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2326283"/>
            <a:ext cx="5333867" cy="2423716"/>
          </a:xfrm>
          <a:prstGeom prst="rect">
            <a:avLst/>
          </a:prstGeom>
          <a:noFill/>
          <a:ln w="6350">
            <a:solidFill>
              <a:srgbClr val="4A36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1526" y="2781895"/>
            <a:ext cx="4609985" cy="939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62.9%</a:t>
            </a:r>
            <a:endParaRPr lang="en-US" sz="7400" dirty="0"/>
          </a:p>
        </p:txBody>
      </p:sp>
      <p:sp>
        <p:nvSpPr>
          <p:cNvPr id="5" name="Text 3"/>
          <p:cNvSpPr/>
          <p:nvPr/>
        </p:nvSpPr>
        <p:spPr>
          <a:xfrm>
            <a:off x="971526" y="3753445"/>
            <a:ext cx="460998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Ordered exactly once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71526" y="4139208"/>
            <a:ext cx="497192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5,454 ordered twice.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48244" y="2326283"/>
            <a:ext cx="5333867" cy="2423716"/>
          </a:xfrm>
          <a:prstGeom prst="rect">
            <a:avLst/>
          </a:prstGeom>
          <a:solidFill>
            <a:srgbClr val="4A3670"/>
          </a:solidFill>
          <a:ln/>
        </p:spPr>
      </p:sp>
      <p:sp>
        <p:nvSpPr>
          <p:cNvPr id="8" name="Text 6"/>
          <p:cNvSpPr/>
          <p:nvPr/>
        </p:nvSpPr>
        <p:spPr>
          <a:xfrm>
            <a:off x="6603835" y="2775545"/>
            <a:ext cx="4622684" cy="939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77.0%</a:t>
            </a:r>
            <a:endParaRPr lang="en-US" sz="7400" dirty="0"/>
          </a:p>
        </p:txBody>
      </p:sp>
      <p:sp>
        <p:nvSpPr>
          <p:cNvPr id="9" name="Text 7"/>
          <p:cNvSpPr/>
          <p:nvPr/>
        </p:nvSpPr>
        <p:spPr>
          <a:xfrm>
            <a:off x="6603835" y="3747095"/>
            <a:ext cx="462268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Revenue from repeat customers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603835" y="4132858"/>
            <a:ext cx="497827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Repeat customers are 37.1% of the base.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9585" y="5075436"/>
            <a:ext cx="1097252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79% are “New” because most joined in 2013, so the repeat opportunity is large.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7895" y="6466086"/>
            <a:ext cx="443109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Customer &amp; Product Insights: Where the Next Growth Comes From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947425" y="6466086"/>
            <a:ext cx="24427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339314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VIPs buy bigger baskets, not more often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38179" y="2163167"/>
            <a:ext cx="320032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2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1,653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38179" y="2821980"/>
            <a:ext cx="342891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VIP customers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495688" y="2163167"/>
            <a:ext cx="320032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2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€10.76M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495688" y="2821980"/>
            <a:ext cx="342891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VIP revenue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53196" y="2163167"/>
            <a:ext cx="320032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2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€6,510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8153196" y="2821980"/>
            <a:ext cx="342891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VIP average spend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3407370"/>
          <a:ext cx="10972526" cy="914400"/>
        </p:xfrm>
        <a:graphic>
          <a:graphicData uri="http://schemas.openxmlformats.org/drawingml/2006/table">
            <a:tbl>
              <a:tblPr/>
              <a:tblGrid>
                <a:gridCol w="4388931"/>
                <a:gridCol w="3291698"/>
                <a:gridCol w="3291897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Measure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VIP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Regular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Order value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€2,633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6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€1,682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Orders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2.5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6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2.1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09585" y="4915099"/>
            <a:ext cx="1097252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Growing VIPs means moving customers into higher-priced bikes.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09585" y="5300861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Top 10% of customers earn 40.3% of revenue; the largest customer is only €13,294, so no whale dependency.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260743" y="1932980"/>
            <a:ext cx="12700" cy="1315641"/>
          </a:xfrm>
          <a:prstGeom prst="rect">
            <a:avLst/>
          </a:prstGeom>
          <a:solidFill>
            <a:srgbClr val="4A3670"/>
          </a:solidFill>
          <a:ln/>
        </p:spPr>
      </p:sp>
      <p:sp>
        <p:nvSpPr>
          <p:cNvPr id="13" name="Shape 10"/>
          <p:cNvSpPr/>
          <p:nvPr/>
        </p:nvSpPr>
        <p:spPr>
          <a:xfrm>
            <a:off x="7918252" y="1932980"/>
            <a:ext cx="12700" cy="1315641"/>
          </a:xfrm>
          <a:prstGeom prst="rect">
            <a:avLst/>
          </a:prstGeom>
          <a:solidFill>
            <a:srgbClr val="4A3670"/>
          </a:solidFill>
          <a:ln/>
        </p:spPr>
      </p:sp>
      <p:sp>
        <p:nvSpPr>
          <p:cNvPr id="14" name="Text 11"/>
          <p:cNvSpPr/>
          <p:nvPr/>
        </p:nvSpPr>
        <p:spPr>
          <a:xfrm>
            <a:off x="177895" y="6466086"/>
            <a:ext cx="443109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Customer &amp; Product Insights: Where the Next Growth Comes From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940777" y="6466086"/>
            <a:ext cx="25091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751840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Australia is the most valuable market per customer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574105"/>
            <a:ext cx="6756231" cy="375354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670509" y="1345505"/>
            <a:ext cx="3911601" cy="4210745"/>
          </a:xfrm>
          <a:prstGeom prst="rect">
            <a:avLst/>
          </a:prstGeom>
          <a:noFill/>
          <a:ln w="6350">
            <a:solidFill>
              <a:srgbClr val="4A367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905453" y="1601093"/>
            <a:ext cx="344171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Australia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905453" y="1986855"/>
            <a:ext cx="3441713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19% of customers, 31.1% of revenue; €2,523 average spend.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905453" y="2663924"/>
            <a:ext cx="344171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905453" y="3049687"/>
            <a:ext cx="3441713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40% of customers, 31.5% of revenue; €1,225 average spend.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905453" y="3696593"/>
            <a:ext cx="3441713" cy="19050"/>
          </a:xfrm>
          <a:prstGeom prst="roundRect">
            <a:avLst>
              <a:gd name="adj" fmla="val 49999"/>
            </a:avLst>
          </a:prstGeom>
          <a:solidFill>
            <a:srgbClr val="4A3670"/>
          </a:solidFill>
          <a:ln/>
        </p:spPr>
      </p:sp>
      <p:sp>
        <p:nvSpPr>
          <p:cNvPr id="10" name="Text 7"/>
          <p:cNvSpPr/>
          <p:nvPr/>
        </p:nvSpPr>
        <p:spPr>
          <a:xfrm>
            <a:off x="7905453" y="3864868"/>
            <a:ext cx="3441713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VIP share: Australia 19.9%, US 4.9%, Canada 2.7%.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09585" y="5878513"/>
            <a:ext cx="1097252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US and Canada hold the largest upside.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77895" y="6466086"/>
            <a:ext cx="443109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Customer &amp; Product Insights: Where the Next Growth Comes From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951393" y="6466086"/>
            <a:ext cx="240302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533585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hidden loyal segment: 35 frequent, low-ticket buyers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63578" y="2601912"/>
            <a:ext cx="3149521" cy="939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35</a:t>
            </a:r>
            <a:endParaRPr lang="en-US" sz="7400" dirty="0"/>
          </a:p>
        </p:txBody>
      </p:sp>
      <p:sp>
        <p:nvSpPr>
          <p:cNvPr id="4" name="Text 2"/>
          <p:cNvSpPr/>
          <p:nvPr/>
        </p:nvSpPr>
        <p:spPr>
          <a:xfrm>
            <a:off x="863578" y="3625850"/>
            <a:ext cx="340351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Customers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21087" y="2586038"/>
            <a:ext cx="3149521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64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16–28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21087" y="3498850"/>
            <a:ext cx="340351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Orders each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78595" y="2601912"/>
            <a:ext cx="3149521" cy="939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€48</a:t>
            </a:r>
            <a:endParaRPr lang="en-US" sz="7400" dirty="0"/>
          </a:p>
        </p:txBody>
      </p:sp>
      <p:sp>
        <p:nvSpPr>
          <p:cNvPr id="8" name="Text 6"/>
          <p:cNvSpPr/>
          <p:nvPr/>
        </p:nvSpPr>
        <p:spPr>
          <a:xfrm>
            <a:off x="8178595" y="3625850"/>
            <a:ext cx="340351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About, per order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9585" y="4454128"/>
            <a:ext cx="1097252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Loyal accessory and clothing buyers that a spend-based VIP rule never captures.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09585" y="4884341"/>
            <a:ext cx="10972526" cy="19050"/>
          </a:xfrm>
          <a:prstGeom prst="roundRect">
            <a:avLst>
              <a:gd name="adj" fmla="val 49999"/>
            </a:avLst>
          </a:prstGeom>
          <a:solidFill>
            <a:srgbClr val="4A3670"/>
          </a:solidFill>
          <a:ln/>
        </p:spPr>
      </p:sp>
      <p:sp>
        <p:nvSpPr>
          <p:cNvPr id="11" name="Text 9"/>
          <p:cNvSpPr/>
          <p:nvPr/>
        </p:nvSpPr>
        <p:spPr>
          <a:xfrm>
            <a:off x="609585" y="5106591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Customers aged 40+ are about 99% of the base; gender is balanced.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60743" y="2254250"/>
            <a:ext cx="12700" cy="1874441"/>
          </a:xfrm>
          <a:prstGeom prst="rect">
            <a:avLst/>
          </a:prstGeom>
          <a:solidFill>
            <a:srgbClr val="4A3670"/>
          </a:solidFill>
          <a:ln/>
        </p:spPr>
      </p:sp>
      <p:sp>
        <p:nvSpPr>
          <p:cNvPr id="13" name="Shape 11"/>
          <p:cNvSpPr/>
          <p:nvPr/>
        </p:nvSpPr>
        <p:spPr>
          <a:xfrm>
            <a:off x="7918252" y="2254250"/>
            <a:ext cx="12700" cy="1874441"/>
          </a:xfrm>
          <a:prstGeom prst="rect">
            <a:avLst/>
          </a:prstGeom>
          <a:solidFill>
            <a:srgbClr val="4A3670"/>
          </a:solidFill>
          <a:ln/>
        </p:spPr>
      </p:sp>
      <p:sp>
        <p:nvSpPr>
          <p:cNvPr id="14" name="Text 12"/>
          <p:cNvSpPr/>
          <p:nvPr/>
        </p:nvSpPr>
        <p:spPr>
          <a:xfrm>
            <a:off x="177895" y="6466086"/>
            <a:ext cx="443109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Customer &amp; Product Insights: Where the Next Growth Comes From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939090" y="6466086"/>
            <a:ext cx="25260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2736849"/>
            <a:ext cx="10566136" cy="1397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Products</a:t>
            </a:r>
            <a:endParaRPr lang="en-US" sz="11000" dirty="0"/>
          </a:p>
        </p:txBody>
      </p:sp>
      <p:sp>
        <p:nvSpPr>
          <p:cNvPr id="3" name="Shape 1"/>
          <p:cNvSpPr/>
          <p:nvPr/>
        </p:nvSpPr>
        <p:spPr>
          <a:xfrm>
            <a:off x="812780" y="4194175"/>
            <a:ext cx="10566036" cy="19050"/>
          </a:xfrm>
          <a:prstGeom prst="roundRect">
            <a:avLst>
              <a:gd name="adj" fmla="val 49999"/>
            </a:avLst>
          </a:prstGeom>
          <a:solidFill>
            <a:srgbClr val="B79CF5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707985"/>
            <a:ext cx="6908627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Bikes carry the revenue; accessories carry the volume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729581"/>
            <a:ext cx="6908627" cy="27758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585" y="4664174"/>
            <a:ext cx="6908627" cy="656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Bikes generate €28.31M, 96.5% of revenue from 88 products.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Road Bikes 49.5%, Mountain 33.9%, Touring 13.1% of total revenue.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09585" y="5642868"/>
            <a:ext cx="690862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Accessories sell 2.4x more units than bikes but earn 2.4% of revenue.</a:t>
            </a:r>
            <a:endParaRPr lang="en-US" sz="2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797" y="0"/>
            <a:ext cx="4063898" cy="6858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7895" y="6466086"/>
            <a:ext cx="443109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Customer &amp; Product Insights: Where the Next Growth Comes From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6030762" y="6466086"/>
            <a:ext cx="73985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2026-10-09T10:00:30Z</dcterms:created>
  <dcterms:modified xsi:type="dcterms:W3CDTF">2026-10-09T10:00:30Z</dcterms:modified>
</cp:coreProperties>
</file>